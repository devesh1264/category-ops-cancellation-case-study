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3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E35"/>
                </a:solidFill>
                <a:latin typeface="Calibri"/>
              </a:rPr>
              <a:t>Cancellation Split by Initiator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Initiator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B6D8D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Customer-initiated (65%)</c:v>
                </c:pt>
                <c:pt idx="1">
                  <c:v>Partner-initiated (35%)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OPERATIONS CASE STUDY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Cancellations in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Appliance Repair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794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category-ops root-cause diagnosis and fix rollout plan for a two-sided home services marketplace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Devesh Rathod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Electrical &amp; Electronics Engineering, VNIT Nagpur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company (“HomeServe”) — figures are assumed for case-study purposes, clearly labeled throughout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Cancellations are eroding HomeServe's highest-stakes category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&amp; AC Repair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seen booking cancellation rates climb over the past two quarters — in a category defined by urgency-driven, low-loyalty demand and a materially higher average order value than most other categories on the platform.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3375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3016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spikes sharply in summer, exactly when customer patience is lowest and cancellations are costliest.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384048" cy="38404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206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brand loyalty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4988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One-off, urgent need — customers book across multiple platforms and cancel wherever confirms slower.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384048" cy="384048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720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0749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3675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repair networks compete on speed of confirmation, not price.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868680"/>
            <a:ext cx="4069080" cy="3154680"/>
          </a:xfrm>
          <a:prstGeom prst="roundRect">
            <a:avLst>
              <a:gd name="adj" fmla="val 3478"/>
            </a:avLst>
          </a:prstGeom>
          <a:solidFill>
            <a:srgbClr val="1A2E35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8638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A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last two quarters (illustrative)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63840" y="2697480"/>
            <a:ext cx="3566160" cy="0"/>
          </a:xfrm>
          <a:prstGeom prst="line">
            <a:avLst/>
          </a:prstGeom>
          <a:noFill/>
          <a:ln w="12700">
            <a:solidFill>
              <a:srgbClr val="3A4E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28163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₹800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2461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— highest among comparable categories, so each cancellation is expensive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35240" y="4206240"/>
            <a:ext cx="4069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8181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LEADERSHIP SHOULD CARE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466344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✦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GMV loss from failed bookings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✦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/ trust damage suppresses future repeat bookings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✦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partner-matching effort on failed jobs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fixable operational gap, not a structural disadvantage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39112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476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Sizing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92024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home services is a spiky, seasonal market — appliance repair demand concentrates in a 3–4 month peak window, so operational readiness matters disproportionately during that stretch. (Illustrative, directional.)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3593592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0215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4747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competitors mirror HomeServe's own model; unstructured local technicians confirm faster (a phone call vs. an app flow) but offer no trust or quality guarantee — HomeServe's real edge is reliability, and rising cancellations erode exactly that edge.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0566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Solvable Now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502920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issue sits in a narrow operational window — not in pricing or fundamental demand — making it a high-leverage, addressable problem rather than a structural market disadvantage.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points to one narrow, addressable window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4846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15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(Illustrative dataset — one quarter, ~24,000 bookings)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23560" y="1737360"/>
            <a:ext cx="6080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737360"/>
            <a:ext cx="91440" cy="11430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97880" y="184708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customer cancellations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224028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 within 2–4 hours post-booking — before partner assignment is confirmed.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23560" y="3108960"/>
            <a:ext cx="6080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3108960"/>
            <a:ext cx="91440" cy="11430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97880" y="321868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likelihood drops ~60%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361188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named partner + ETA is shown to the customer.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23560" y="4480560"/>
            <a:ext cx="60807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23560" y="4480560"/>
            <a:ext cx="91440" cy="114300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897880" y="459028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Partner-initiated cancellations cluster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97880" y="498348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peak-demand hours — consistent with a supply-availability gap, not a quality issue.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623560" y="589788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→ Two separable problems: a demand-side pre-confirmation gap (larger, addressable) and a smaller supply-side peak-hour gap (secondary).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PERSONAS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sides, two very different pain 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993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Shah, 31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Working Professional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803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AC broke down in 40°C heat — whoever gets here first wins.”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456432"/>
            <a:ext cx="4892040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6118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Behavior: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8496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2–3 apps at once, cancels wherever confirmation is slower.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702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079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confirmation, visible ETA, trust that someone is coming.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9286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1663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feels like a black box for the first few hours.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1965960"/>
            <a:ext cx="777240" cy="7772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3796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1993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Ramesh Kumar, 38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· AC Repair Technician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8803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take the jobs that pay well and don’t waste my time between slots.”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456432"/>
            <a:ext cx="4892040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36118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Behavior: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8496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clear pay, short travel, reasonable time buffer.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2702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5079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fair pay, minimal idle time, clear job details.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492861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51663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jobs pay the same as off-peak — no incentive to prioritize them.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ROOT CAUSE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794760" y="160020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1A2E35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794760" y="1600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rising: 12% → 18%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2194560"/>
            <a:ext cx="0" cy="320040"/>
          </a:xfrm>
          <a:prstGeom prst="line">
            <a:avLst/>
          </a:prstGeom>
          <a:noFill/>
          <a:ln w="19050">
            <a:solidFill>
              <a:srgbClr val="5A6B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514600"/>
            <a:ext cx="8686800" cy="0"/>
          </a:xfrm>
          <a:prstGeom prst="line">
            <a:avLst/>
          </a:prstGeom>
          <a:noFill/>
          <a:ln w="19050">
            <a:solidFill>
              <a:srgbClr val="5A6B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2514600"/>
            <a:ext cx="0" cy="274320"/>
          </a:xfrm>
          <a:prstGeom prst="line">
            <a:avLst/>
          </a:prstGeom>
          <a:noFill/>
          <a:ln w="19050">
            <a:solidFill>
              <a:srgbClr val="5A6B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2514600"/>
            <a:ext cx="0" cy="274320"/>
          </a:xfrm>
          <a:prstGeom prst="line">
            <a:avLst/>
          </a:prstGeom>
          <a:noFill/>
          <a:ln w="19050">
            <a:solidFill>
              <a:srgbClr val="5A6B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0" y="2514600"/>
            <a:ext cx="0" cy="274320"/>
          </a:xfrm>
          <a:prstGeom prst="line">
            <a:avLst/>
          </a:prstGeom>
          <a:noFill/>
          <a:ln w="19050">
            <a:solidFill>
              <a:srgbClr val="5A6B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8892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4EC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Demand-side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36499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 booking / hedging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status visibility post-booking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Price–urgency mismatch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317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78892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060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Operational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965192" y="336499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assignment confirmation (2–4 hrs)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interim customer communication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dynamic peak-hour routing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0" y="27889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278892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4ECE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Supply-side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336499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unavailability at slot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pay — no peak incentive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✦"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Late-discovered parts mismatch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94560" y="557784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2377440" y="55778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Root Cause: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2–4 hour post-booking, pre-confirmation assignment gap — sits at the intersection of both demand and supply symptoms, and matches the data's 55% cluster window.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PRIORITIZATION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fix traces back to a root cause — nothing here is arbitrary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4663440"/>
        </p:xfrm>
        <a:graphic>
          <a:graphicData uri="http://schemas.openxmlformats.org/drawingml/2006/table">
            <a:tbl>
              <a:tblPr/>
              <a:tblGrid>
                <a:gridCol w="2880360"/>
                <a:gridCol w="2606040"/>
                <a:gridCol w="1371600"/>
                <a:gridCol w="43891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Addressed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automated partner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assignment confirmation (primary)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attacks the highest-leverage branch; 55% of cancellations cluster in this exact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status updates (“Finding your technician…”)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interim communication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Cheap, immediate perceived-wait reduction — can launch ahead of the full matching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peak-hour partner incentive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pay → partner no-shows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 secondary root cause; needs more structural/financial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Pre-booking part/tool checklist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Late-discovered parts mismatch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but smaller contributor; phased in after the core 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/ pricing lock for repeat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Doesn’t map to an identified root cause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WON'T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 long-term loyalty, not the acute confirmation-gap driver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SOLUTION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2–4 hour black box to a sub-15-minute confirmation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 HRS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450592"/>
            <a:ext cx="365760" cy="36576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13232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3957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books repair slot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3090672"/>
            <a:ext cx="365760" cy="36576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1323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358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enters manual/batch assignment queue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3730752"/>
            <a:ext cx="365760" cy="36576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3232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6758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staff reviews partners by area (batch, every few hours)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" y="4370832"/>
            <a:ext cx="365760" cy="36576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13232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3159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manually notified — accepts or declines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" y="5010912"/>
            <a:ext cx="365760" cy="36576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13232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9560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declined, re-enters queue (repeats)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" y="5650992"/>
            <a:ext cx="365760" cy="36576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13232" y="5650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5961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 “Partner Assigned”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60020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&lt;15 MIN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22402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65392" y="2450592"/>
            <a:ext cx="365760" cy="3657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565392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23957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books repair slot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65392" y="3090672"/>
            <a:ext cx="365760" cy="3657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5653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86600" y="30358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engine instantly scans available partners by proximity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65392" y="3730752"/>
            <a:ext cx="365760" cy="3657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565392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36758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 interim status: “Assigned in ~10–15 mins”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65392" y="4370832"/>
            <a:ext cx="365760" cy="3657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565392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086600" y="43159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Best-match partner auto-notified, 3-min accept window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65392" y="5010912"/>
            <a:ext cx="365760" cy="3657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565392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86600" y="49560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Auto-reassigns to next match if declined — no manual re-queue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65392" y="5650992"/>
            <a:ext cx="365760" cy="3657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6565392" y="5650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086600" y="55961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partner + live ETA shown to customer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math: modest recovery, real payback, no overclaiming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recovered / month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3756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₹2.49L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recovered / month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₹5.97L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revenue recovered / year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98280" y="1600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A2E35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9828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 mo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00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8,000 bookings/month, ₹800 AOV, 18% cancellation rate, 36% of cancellations tied to the confirmation gap, 60% reduction from the fix, 20% platform take rate.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COST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5486400" cy="141732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Matching-engine development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₹8.0L – ₹12.0L (one-time)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status UI / notifications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₹1.5L – ₹2.5L (one-time)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infra / maintenance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~₹50,000 /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263640" y="370332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49224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THE ~24-MONTH PAYBACK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42062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engineering build, not a policy tweak — slower payback than a low-cost fix is expected and honest. The ROI table deliberately excludes the longer-term trust / repeat-booking upside rather than forcing a speculative multiplier onto it.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ROLLOUT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small, before betting the whole category on 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Pilot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57860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mid-sized city, AC repair only. Full monitoring against the pre-set success bar.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2606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64992" y="160020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4992" y="16002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64992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Wave Expansion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2–4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257860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similar-tier cities. Re-validate the success bar holds at broader scale.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606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72784" y="160020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16002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72784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Full Rollout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5–6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57860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cities. Begin evaluating the secondary peak-hour incentive fix.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942832" y="2606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80576" y="1600200"/>
            <a:ext cx="2651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80576" y="16002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1A2E3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80576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Post-Launch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317736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17736" y="257860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Confirmation-gap rate becomes a standing category health metric.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A2E35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85800" y="43159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SUCCESS BAR (set before the pilot starts)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6634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confirmation-gap cancellations drop ≥5 points within 6 weeks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partner utilization does not drop &gt;5%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CSAT holds steady or improves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partner-initiated no-show rate does not rise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METRICS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loop: fix → metric → business outcome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766560" cy="4480560"/>
        </p:xfrm>
        <a:graphic>
          <a:graphicData uri="http://schemas.openxmlformats.org/drawingml/2006/table">
            <a:tbl>
              <a:tblPr/>
              <a:tblGrid>
                <a:gridCol w="3200400"/>
                <a:gridCol w="35661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Confirmation-gap cancellation rate (North Star)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target of the fix — primary success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category cancellation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Umbrella metric the project ladders up 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matches actually improve, not just 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utilization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 — fix shouldn’t concentrate jobs unfairly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CSAT (category-level)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 indicator, ahead of any repeat-booking 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booking rate (next-season cohort)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payoff — confirms trust was rebuilt, not just one quarter fixed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55448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4E4"/>
            </a:solidFill>
            <a:prstDash val="solid"/>
          </a:ln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3524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CAUSAL CHAIN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2103120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3524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0756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matching + status updates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99832" y="2496312"/>
            <a:ext cx="0" cy="182880"/>
          </a:xfrm>
          <a:prstGeom prst="line">
            <a:avLst/>
          </a:prstGeom>
          <a:noFill/>
          <a:ln w="19050">
            <a:solidFill>
              <a:srgbClr val="D7E4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5240" y="2697480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63524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26700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Confirmation-gap cancellations drop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99832" y="3090672"/>
            <a:ext cx="0" cy="182880"/>
          </a:xfrm>
          <a:prstGeom prst="line">
            <a:avLst/>
          </a:prstGeom>
          <a:noFill/>
          <a:ln w="19050">
            <a:solidFill>
              <a:srgbClr val="D7E4E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3291840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6352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32644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cancellation rate falls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99832" y="3685032"/>
            <a:ext cx="0" cy="182880"/>
          </a:xfrm>
          <a:prstGeom prst="line">
            <a:avLst/>
          </a:prstGeom>
          <a:noFill/>
          <a:ln w="19050">
            <a:solidFill>
              <a:srgbClr val="D7E4E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3886200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63524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38587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recovered + CSAT improves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99832" y="4279392"/>
            <a:ext cx="0" cy="182880"/>
          </a:xfrm>
          <a:prstGeom prst="line">
            <a:avLst/>
          </a:prstGeom>
          <a:noFill/>
          <a:ln w="19050">
            <a:solidFill>
              <a:srgbClr val="D7E4E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35240" y="4480560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63524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092440" y="44531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 hedging reduces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799832" y="4873752"/>
            <a:ext cx="0" cy="182880"/>
          </a:xfrm>
          <a:prstGeom prst="line">
            <a:avLst/>
          </a:prstGeom>
          <a:noFill/>
          <a:ln w="19050">
            <a:solidFill>
              <a:srgbClr val="D7E4E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35240" y="5074920"/>
            <a:ext cx="329184" cy="329184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635240" y="5074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092440" y="50474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booking rate improves next season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RISKS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how it's contained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663440"/>
              </a:tblGrid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concentration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keeps routing jobs to the same fast, top-rated partners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matching by proximity/speed AND fair rotation; cap consecutive assignments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Rushed / mismatched assignments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 3-min accept window pressures poor-fit acceptances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skill/proximity as hard constraints before optimizing for 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attrition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Shorter timeouts feel like added 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tracks no-show rate + utilization; timeout is tunable, not 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Over-promised 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“~10–15 min” breaks trust if genuine supply shortage exists locally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status shows live/dynamic estimate, not a flat promise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cause neglected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Peak-hour incentive fix (Should Have) gets deprioritized indefinitely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Explicitly scheduled for Phase 2/3, not abandoned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 (illustrative) · Appliance &amp; AC Repair Category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389120"/>
            <a:ext cx="4206240" cy="42062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HomeServe's Appliance Repair category saw cancellations rise from 12% to 18%, traced to a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hour post-booking confirmation gap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4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exact window where urgency-driven customers hedge across competing apps.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4780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44144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automated partner matching + interim status updates, cutting confirmation time from hours to under 15 minutes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924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Through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35584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6-week single-city pilot with a pre-set success bar and guardrail metrics, before phased expansion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068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427024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~₹5.97L/year recovered platform revenue, ~24-month payback, plus a longer-term trust/repeat-booking benefit deliberately left unquantified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38100" dir="5400000">
              <a:srgbClr val="1A2E35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212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Deferred, Not Ignored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518464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secondary peak-hour partner incentive fix is explicitly sequenced for Phase 2/3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626364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Devesh Rathod · VNIT Nagpur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2026-08-30T08:01:08Z</dcterms:created>
  <dcterms:modified xsi:type="dcterms:W3CDTF">2026-08-30T08:01:08Z</dcterms:modified>
</cp:coreProperties>
</file>